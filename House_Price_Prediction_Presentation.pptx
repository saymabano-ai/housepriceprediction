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PRICE PREDICTION SYSTEM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7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to Residential Property Valuation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058400" y="548640"/>
            <a:ext cx="1645920" cy="164592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669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 Summer Internship 2026  |  IIHMF, MNNIT Allahabad, Prayagraj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FC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760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property valuation is subjective, inconsistent, and slow — buyers and sellers need an objective, data-driven way to estimate fair market price.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5760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residential house prices from property attributes — area, location, BHK, age, and amenities — using a complete Machine Learning lifecycle from raw data to a deployed prediction app.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66560" y="1463040"/>
            <a:ext cx="48463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0" y="16916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Inputs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23760" y="21945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(Sq Ft)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223760" y="2788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/ City Tier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23760" y="3383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BHK &amp; Bathrooms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223760" y="39776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23760" y="4572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Furnishing &amp; Amenities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755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&amp; Preprocess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clean, structured housing dataset (3,000+ records)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0" y="1755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&amp; Engineer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42316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EDA and create meaningful new features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554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1783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006840" y="1755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66760" y="242316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3 regression models and benchmark performance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069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4041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70916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MAE, RMSE, R² to choose the best model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43400" y="384048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40690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12080" y="4041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4709160"/>
            <a:ext cx="31089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live Streamlit app for real-time predictions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3,000+ residential property records across 8 Indian cities, capturing realistic city-tier and locality-tier pricing patterns.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3,035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83280" y="21488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2286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383280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Features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21488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286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17920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Covered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52560" y="21488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22860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052560" y="28803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388620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groups: Location (City, Locality Tier) · Structural (Area, BHK, Bathrooms, Floors) · Condition (Age, Furnishing) · Amenities (Parking, Lift, Metro Distance, School/Hospital proximity)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50292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Built from a statistically realistic generator modelling real Indian housing price relationships, since live Kaggle access was unavailable in the build environment; the pipeline accepts any Kaggle housing CSV as a drop-in replacement.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207008" cy="1371600"/>
          </a:xfrm>
          <a:prstGeom prst="roundRect">
            <a:avLst>
              <a:gd name="adj" fmla="val 606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377440"/>
            <a:ext cx="12070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55648" y="2377440"/>
            <a:ext cx="1280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95C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83664" y="2377440"/>
            <a:ext cx="1207008" cy="1371600"/>
          </a:xfrm>
          <a:prstGeom prst="roundRect">
            <a:avLst>
              <a:gd name="adj" fmla="val 6061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1883664" y="2377440"/>
            <a:ext cx="12070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90672" y="2377440"/>
            <a:ext cx="1280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95C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18688" y="2377440"/>
            <a:ext cx="1207008" cy="1371600"/>
          </a:xfrm>
          <a:prstGeom prst="roundRect">
            <a:avLst>
              <a:gd name="adj" fmla="val 6061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218688" y="2377440"/>
            <a:ext cx="12070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25696" y="2377440"/>
            <a:ext cx="1280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95C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53712" y="2377440"/>
            <a:ext cx="1207008" cy="1371600"/>
          </a:xfrm>
          <a:prstGeom prst="roundRect">
            <a:avLst>
              <a:gd name="adj" fmla="val 6061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553712" y="2377440"/>
            <a:ext cx="12070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60720" y="2377440"/>
            <a:ext cx="1280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95C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888736" y="2377440"/>
            <a:ext cx="1207008" cy="1371600"/>
          </a:xfrm>
          <a:prstGeom prst="roundRect">
            <a:avLst>
              <a:gd name="adj" fmla="val 6061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5888736" y="2377440"/>
            <a:ext cx="12070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95744" y="2377440"/>
            <a:ext cx="1280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95C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223760" y="2377440"/>
            <a:ext cx="1207008" cy="1371600"/>
          </a:xfrm>
          <a:prstGeom prst="roundRect">
            <a:avLst>
              <a:gd name="adj" fmla="val 6061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2377440"/>
            <a:ext cx="12070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30768" y="2377440"/>
            <a:ext cx="1280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95C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58784" y="2377440"/>
            <a:ext cx="1207008" cy="1371600"/>
          </a:xfrm>
          <a:prstGeom prst="roundRect">
            <a:avLst>
              <a:gd name="adj" fmla="val 6061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8558784" y="2377440"/>
            <a:ext cx="12070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65792" y="2377440"/>
            <a:ext cx="12801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1295C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893808" y="2377440"/>
            <a:ext cx="1207008" cy="1371600"/>
          </a:xfrm>
          <a:prstGeom prst="roundRect">
            <a:avLst>
              <a:gd name="adj" fmla="val 6061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9893808" y="2377440"/>
            <a:ext cx="120700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2062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Eight-phase pipeline followed end-to-end, from raw data to a deployed prediction tool.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3152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Removal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97680" y="14630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duplicate rows identified and dropped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73152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0428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Imputation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0" y="2304288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for numeric, mode for categorical (~4.5% missing)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91256"/>
            <a:ext cx="73152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455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Treatment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31455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IQR-based capping on Area &amp; Price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032504"/>
            <a:ext cx="73152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98678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97680" y="3986784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+ ordinal Tier_Rank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873752"/>
            <a:ext cx="73152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2803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97680" y="4828032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for numeric features (Linear Regression)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000" dirty="0"/>
          </a:p>
        </p:txBody>
      </p:sp>
      <p:pic>
        <p:nvPicPr>
          <p:cNvPr id="4" name="Image 0" descr="01_price_distrib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463040"/>
            <a:ext cx="3749040" cy="2651760"/>
          </a:xfrm>
          <a:prstGeom prst="rect">
            <a:avLst/>
          </a:prstGeom>
        </p:spPr>
      </p:pic>
      <p:pic>
        <p:nvPicPr>
          <p:cNvPr id="5" name="Image 1" descr="03_area_vs_pri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34840" y="1463040"/>
            <a:ext cx="3749040" cy="2651760"/>
          </a:xfrm>
          <a:prstGeom prst="rect">
            <a:avLst/>
          </a:prstGeom>
        </p:spPr>
      </p:pic>
      <p:pic>
        <p:nvPicPr>
          <p:cNvPr id="6" name="Image 2" descr="06_correlation_heatmap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12480" y="1463040"/>
            <a:ext cx="3383280" cy="26517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48640" y="42976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is right-skewed; Area and Locality Tier show the strongest correlation with Price.</a:t>
            </a:r>
            <a:endParaRPr lang="en-US" sz="1350" dirty="0"/>
          </a:p>
        </p:txBody>
      </p:sp>
      <p:pic>
        <p:nvPicPr>
          <p:cNvPr id="8" name="Image 3" descr="05_city_vs_price_boxplo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194560" y="4663440"/>
            <a:ext cx="7315200" cy="173736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&amp; COMPARING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352044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baseline; assumes linear feature-price relationship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5544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554480"/>
            <a:ext cx="352044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343400" y="15544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0" y="237744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trees, ensemble of decision trees, captures non-linear interactions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38160" y="1554480"/>
            <a:ext cx="3520440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1554480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237744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estimators, gradient boosting, sequentially corrects errors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Model Comparison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669280" cy="1828800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  <a:gridCol w="1417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₹13.9 Lakh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₹19.9 Lakh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₹7.1 Lakh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₹13.1 Lakh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(Selected)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₹7.2 Lakh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₹13.1 Lakh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07_model_comparison_r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1371600"/>
            <a:ext cx="5120640" cy="3200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356616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and Random Forest both substantially outperform the Linear Regression baseline, improving R² from 0.83 to 0.92.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QUALITY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Screenshots</a:t>
            </a:r>
            <a:endParaRPr lang="en-US" sz="3000" dirty="0"/>
          </a:p>
        </p:txBody>
      </p:sp>
      <p:pic>
        <p:nvPicPr>
          <p:cNvPr id="4" name="Image 0" descr="09_actual_vs_predict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463040"/>
            <a:ext cx="5212080" cy="4572000"/>
          </a:xfrm>
          <a:prstGeom prst="rect">
            <a:avLst/>
          </a:prstGeom>
        </p:spPr>
      </p:pic>
      <p:pic>
        <p:nvPicPr>
          <p:cNvPr id="5" name="Image 1" descr="10_feature_importanc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26480" y="1463040"/>
            <a:ext cx="5486400" cy="4572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 TO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— Streamlit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8813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🏠 House Price Prediction System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City, Property Type, Area, BHK, Age, Furnishing, and Amenities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05840" y="306324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XGBoost pipeline runs inference in real time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05840" y="365760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returns predicted price and implied price-per-sq-ft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42519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▸"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Streamlit — runs locally or deploys to Streamlit Cloud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ML pipeline: preprocessing → EDA → feature engineering → modelling → deployment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3 regression models; XGBoost achieved the best performance (R² = 0.924)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prediction error (RMSE) by ~34% over the linear baseline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 working, interactive Streamlit application for real-time price prediction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1572768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live Kaggle / real estate portal data feeds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09360" y="16459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12280" y="1572768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geospatial features (lat/long, walkability, safety index)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761488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property images via CNN-based feature extraction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8346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12280" y="2761488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&amp; model stacking for higher accuracy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3950208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with public URL &amp; usage analytics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40233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12280" y="3950208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SHAP-based explainability to the deployed app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035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C1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 &amp; Discussion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3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Price Prediction System</dc:title>
  <dc:subject>PptxGenJS Presentation</dc:subject>
  <dc:creator>AIML Summer Internship 2026</dc:creator>
  <cp:lastModifiedBy>AIML Summer Internship 2026</cp:lastModifiedBy>
  <cp:revision>1</cp:revision>
  <dcterms:created xsi:type="dcterms:W3CDTF">2026-06-30T11:11:05Z</dcterms:created>
  <dcterms:modified xsi:type="dcterms:W3CDTF">2026-06-30T11:11:05Z</dcterms:modified>
</cp:coreProperties>
</file>